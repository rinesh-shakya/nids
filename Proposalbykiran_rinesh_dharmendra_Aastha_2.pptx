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3"/>
  </p:notesMasterIdLst>
  <p:sldIdLst>
    <p:sldId id="268" r:id="rId2"/>
    <p:sldId id="305" r:id="rId3"/>
    <p:sldId id="345" r:id="rId4"/>
    <p:sldId id="344" r:id="rId5"/>
    <p:sldId id="346" r:id="rId6"/>
    <p:sldId id="356" r:id="rId7"/>
    <p:sldId id="347" r:id="rId8"/>
    <p:sldId id="350" r:id="rId9"/>
    <p:sldId id="365" r:id="rId10"/>
    <p:sldId id="349" r:id="rId11"/>
    <p:sldId id="355" r:id="rId12"/>
    <p:sldId id="364" r:id="rId13"/>
    <p:sldId id="363" r:id="rId14"/>
    <p:sldId id="354" r:id="rId15"/>
    <p:sldId id="383" r:id="rId16"/>
    <p:sldId id="357" r:id="rId17"/>
    <p:sldId id="358" r:id="rId18"/>
    <p:sldId id="359" r:id="rId19"/>
    <p:sldId id="360" r:id="rId20"/>
    <p:sldId id="370" r:id="rId21"/>
    <p:sldId id="371" r:id="rId22"/>
    <p:sldId id="361" r:id="rId23"/>
    <p:sldId id="362" r:id="rId24"/>
    <p:sldId id="325" r:id="rId25"/>
    <p:sldId id="369" r:id="rId26"/>
    <p:sldId id="372" r:id="rId27"/>
    <p:sldId id="373" r:id="rId28"/>
    <p:sldId id="380" r:id="rId29"/>
    <p:sldId id="379" r:id="rId30"/>
    <p:sldId id="374" r:id="rId31"/>
    <p:sldId id="375" r:id="rId32"/>
    <p:sldId id="376" r:id="rId33"/>
    <p:sldId id="377" r:id="rId34"/>
    <p:sldId id="378" r:id="rId35"/>
    <p:sldId id="382" r:id="rId36"/>
    <p:sldId id="381" r:id="rId37"/>
    <p:sldId id="327" r:id="rId38"/>
    <p:sldId id="366" r:id="rId39"/>
    <p:sldId id="368" r:id="rId40"/>
    <p:sldId id="342" r:id="rId41"/>
    <p:sldId id="367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9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BDC58-A4E5-46B2-8FEB-2A6AFFB5CD18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9A5A96-D269-4616-8547-AB2465F44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68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A5A96-D269-4616-8547-AB2465F4471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299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B4AA-96FA-48B1-9AF3-C917831DF845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Bibat Thokar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25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Bibat Thokar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453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8F55-3D28-408A-8ADD-BC9AC0C8E89E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Bibat Thokar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990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4DAFE-3027-41D3-A9DD-235AB8DEFD95}" type="datetime4">
              <a:rPr lang="en-US" smtClean="0"/>
              <a:t>August 27,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Bibat Thokar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549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8B3D4-9C23-4A63-B924-1D9D4D039997}" type="datetime4">
              <a:rPr lang="en-US" smtClean="0"/>
              <a:t>August 27,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Bibat Thokar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020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0C5F6-F0FD-4F66-B7C4-F53622E078FF}" type="datetime4">
              <a:rPr lang="en-US" smtClean="0"/>
              <a:t>August 27,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Bibat Thokar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835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849F8-4BE4-41CF-9F29-E03482E397F5}" type="datetime4">
              <a:rPr lang="en-US" smtClean="0"/>
              <a:t>August 27,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Bibat Thokar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89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80800-3D8F-4944-BAA0-D930E515A2CE}" type="datetime4">
              <a:rPr lang="en-US" smtClean="0"/>
              <a:t>August 27,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Bibat Thokar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152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E9E3-5ED8-4601-8F60-510E6EEFFC95}" type="datetime4">
              <a:rPr lang="en-US" smtClean="0"/>
              <a:t>August 27,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Bibat Thokar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591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37294-090B-4894-9897-845419AFF1BD}" type="datetime4">
              <a:rPr lang="en-US" smtClean="0"/>
              <a:t>August 27,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Bibat Thokar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142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35A06-5AEC-4941-854A-9885EAFC88CD}" type="datetime4">
              <a:rPr lang="en-US" smtClean="0"/>
              <a:t>August 27,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Bibat Thokar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023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23FE8-7992-47E2-8A18-BB023AE9C13F}" type="datetime4">
              <a:rPr lang="en-US" smtClean="0"/>
              <a:t>August 27,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Bibat Thokar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85902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3CC66-9617-4BDE-A4CD-C86B44F57FA7}" type="datetime4">
              <a:rPr lang="en-US" smtClean="0"/>
              <a:t>August 27,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Bibat Thokar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015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FE30A-C351-431E-88F3-7CC0C8E16C22}" type="datetime4">
              <a:rPr lang="en-US" smtClean="0"/>
              <a:t>August 27,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Bibat Thokar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5624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AFFEE-2E78-4C33-88BC-BC616A129078}" type="datetime4">
              <a:rPr lang="en-US" smtClean="0"/>
              <a:t>August 27,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Bibat Thokar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20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963EB-4D04-49C9-BB09-B50B73095E5B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Bibat Thokar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292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B359-3EB4-429B-8D2A-9634045249EF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Bibat Thokar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611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32C91-400B-426B-84FA-E7F0B2AB23DF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Bibat Thokar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1763F-81AB-444C-A628-BCD1D82D678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5122" cy="133598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255" y="0"/>
            <a:ext cx="1441460" cy="133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206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hf hdr="0" ft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299099"/>
          </a:xfrm>
        </p:spPr>
        <p:txBody>
          <a:bodyPr>
            <a:noAutofit/>
          </a:bodyPr>
          <a:lstStyle/>
          <a:p>
            <a:r>
              <a:rPr lang="en-US" sz="3200" dirty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Tribhuvan university</a:t>
            </a:r>
            <a:br>
              <a:rPr lang="en-US" sz="3200" dirty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0" dirty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engineering</a:t>
            </a:r>
            <a:br>
              <a:rPr lang="en-US" sz="3200" b="0" dirty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0" dirty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Lalitpur engineering college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84341" y="3013122"/>
            <a:ext cx="4674750" cy="2677466"/>
          </a:xfrm>
        </p:spPr>
        <p:txBody>
          <a:bodyPr/>
          <a:lstStyle/>
          <a:p>
            <a:r>
              <a:rPr lang="en-US" sz="2000" u="sng" dirty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Presenters </a:t>
            </a:r>
            <a:r>
              <a:rPr lang="en-US" sz="2000" u="sng" dirty="0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u="sng" dirty="0" err="1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Aastha</a:t>
            </a:r>
            <a:r>
              <a:rPr lang="en-US" sz="2000" u="sng" dirty="0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Bhatt</a:t>
            </a:r>
            <a:r>
              <a:rPr lang="en-US" sz="2000" dirty="0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[LEC080BCT002</a:t>
            </a:r>
            <a:r>
              <a:rPr lang="en-US" sz="2000" dirty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r>
              <a:rPr lang="en-US" sz="2000" dirty="0" err="1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Dharmendra</a:t>
            </a:r>
            <a:r>
              <a:rPr lang="en-US" sz="2000" dirty="0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Mandal</a:t>
            </a:r>
            <a:r>
              <a:rPr lang="en-US" sz="2000" dirty="0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[LEC080BCT012]</a:t>
            </a:r>
            <a:endParaRPr lang="en-US" sz="2000" dirty="0">
              <a:effectLst>
                <a:outerShdw blurRad="38100" dist="38100" dir="2700000" algn="tl" rotWithShape="0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Kiran</a:t>
            </a:r>
            <a:r>
              <a:rPr lang="en-US" sz="2000" dirty="0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Thapa</a:t>
            </a:r>
            <a:r>
              <a:rPr lang="en-US" sz="2000" dirty="0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Magar</a:t>
            </a:r>
            <a:r>
              <a:rPr lang="en-US" sz="2000" dirty="0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[LEC080BCT017]</a:t>
            </a:r>
            <a:endParaRPr lang="en-US" sz="2000" dirty="0">
              <a:effectLst>
                <a:outerShdw blurRad="38100" dist="38100" dir="2700000" algn="tl" rotWithShape="0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Rinesh</a:t>
            </a:r>
            <a:r>
              <a:rPr lang="en-US" sz="2000" dirty="0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Shakya</a:t>
            </a:r>
            <a:r>
              <a:rPr lang="en-US" sz="2000" dirty="0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[LEC080BCT026]</a:t>
            </a:r>
            <a:endParaRPr lang="en-US" sz="2000" dirty="0">
              <a:effectLst>
                <a:outerShdw blurRad="38100" dist="38100" dir="2700000" algn="tl" rotWithShape="0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effectLst>
                <a:outerShdw blurRad="38100" dist="38100" dir="2700000" algn="tl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9075" y="5690588"/>
            <a:ext cx="2743200" cy="365125"/>
          </a:xfrm>
        </p:spPr>
        <p:txBody>
          <a:bodyPr/>
          <a:lstStyle/>
          <a:p>
            <a:pPr algn="ctr"/>
            <a:fld id="{838697DE-ACA2-4777-85CE-01B42DCE9E12}" type="datetime4">
              <a:rPr 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pPr algn="ctr"/>
              <a:t>August 27, 2026</a:t>
            </a:fld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2725" y="1908699"/>
            <a:ext cx="103537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DEFENSE ON</a:t>
            </a:r>
          </a:p>
          <a:p>
            <a:pPr algn="ctr"/>
            <a:r>
              <a:rPr lang="en-US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Network Intrusion detection System using ML</a:t>
            </a:r>
            <a:r>
              <a:rPr lang="en-US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921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642151"/>
          </a:xfrm>
        </p:spPr>
        <p:txBody>
          <a:bodyPr>
            <a:normAutofit/>
          </a:bodyPr>
          <a:lstStyle/>
          <a:p>
            <a:r>
              <a:rPr lang="en-US" sz="3200" dirty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251751"/>
            <a:ext cx="5106004" cy="4539449"/>
          </a:xfrm>
        </p:spPr>
        <p:txBody>
          <a:bodyPr>
            <a:normAutofit/>
          </a:bodyPr>
          <a:lstStyle/>
          <a:p>
            <a:r>
              <a:rPr lang="en-US" dirty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dirty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US" dirty="0">
              <a:effectLst>
                <a:outerShdw blurRad="38100" dist="38100" dir="2700000" algn="tl" rotWithShape="0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/>
            <a:r>
              <a:rPr lang="en-US" dirty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285750" indent="-285750"/>
            <a:r>
              <a:rPr lang="en-US" dirty="0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dirty="0">
              <a:effectLst>
                <a:outerShdw blurRad="38100" dist="38100" dir="2700000" algn="tl" rotWithShape="0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/>
            <a:r>
              <a:rPr lang="en-US" dirty="0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Significance</a:t>
            </a:r>
            <a:endParaRPr lang="en-US" dirty="0">
              <a:effectLst>
                <a:outerShdw blurRad="38100" dist="38100" dir="2700000" algn="tl" rotWithShape="0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/>
            <a:r>
              <a:rPr lang="en-US" dirty="0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lang="en-US" dirty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  <a:p>
            <a:pPr marL="285750" indent="-285750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</a:p>
          <a:p>
            <a:pPr marL="285750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block diagram</a:t>
            </a:r>
            <a:endParaRPr lang="en-US" dirty="0">
              <a:effectLst>
                <a:outerShdw blurRad="38100" dist="38100" dir="2700000" algn="tl" rotWithShape="0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/>
            <a:r>
              <a:rPr lang="en-US" dirty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1251751"/>
            <a:ext cx="5094154" cy="4539449"/>
          </a:xfrm>
        </p:spPr>
        <p:txBody>
          <a:bodyPr>
            <a:normAutofit/>
          </a:bodyPr>
          <a:lstStyle/>
          <a:p>
            <a:pPr marL="285750" indent="-285750"/>
            <a:r>
              <a:rPr lang="en-US" dirty="0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</a:p>
          <a:p>
            <a:pPr marL="285750" indent="-285750"/>
            <a:r>
              <a:rPr lang="en-US" dirty="0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</a:p>
          <a:p>
            <a:pPr marL="285750" indent="-285750"/>
            <a:r>
              <a:rPr lang="en-US" dirty="0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  <a:endParaRPr lang="en-US" dirty="0">
              <a:effectLst>
                <a:outerShdw blurRad="38100" dist="38100" dir="2700000" algn="tl" rotWithShape="0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/>
            <a:r>
              <a:rPr lang="en-US" dirty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13795" y="5883275"/>
            <a:ext cx="2743200" cy="365125"/>
          </a:xfrm>
        </p:spPr>
        <p:txBody>
          <a:bodyPr/>
          <a:lstStyle/>
          <a:p>
            <a:pPr algn="l"/>
            <a:fld id="{E524DAFE-3027-41D3-A9DD-235AB8DEFD95}" type="datetime4"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pPr algn="l"/>
              <a:t>August 27, 2026</a:t>
            </a:fld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fld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8851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68654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296141"/>
            <a:ext cx="10353762" cy="4678531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N</a:t>
            </a:r>
            <a:r>
              <a:rPr lang="en-US" dirty="0" smtClean="0"/>
              <a:t>IDS </a:t>
            </a:r>
            <a:r>
              <a:rPr lang="en-US" dirty="0"/>
              <a:t>are </a:t>
            </a:r>
            <a:r>
              <a:rPr lang="en-US" dirty="0" smtClean="0"/>
              <a:t>security </a:t>
            </a:r>
            <a:r>
              <a:rPr lang="en-US" dirty="0"/>
              <a:t>solutions that, like antivirus software, firewalls, and access control schemes, are designed to make information and </a:t>
            </a:r>
            <a:r>
              <a:rPr lang="en-US" dirty="0" smtClean="0"/>
              <a:t>communication </a:t>
            </a:r>
            <a:r>
              <a:rPr lang="en-US" dirty="0"/>
              <a:t>systems more secure</a:t>
            </a:r>
            <a:r>
              <a:rPr lang="en-US" dirty="0" smtClean="0"/>
              <a:t>.[1]</a:t>
            </a:r>
          </a:p>
          <a:p>
            <a:pPr algn="just"/>
            <a:r>
              <a:rPr lang="en-US" dirty="0" smtClean="0"/>
              <a:t>This proposed NIDS is used to detect anomaly in network such as </a:t>
            </a:r>
            <a:r>
              <a:rPr lang="en-US" dirty="0" err="1" smtClean="0"/>
              <a:t>cyberattack</a:t>
            </a:r>
            <a:r>
              <a:rPr lang="en-US" dirty="0"/>
              <a:t>.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3795" y="5974672"/>
            <a:ext cx="2743200" cy="365125"/>
          </a:xfrm>
        </p:spPr>
        <p:txBody>
          <a:bodyPr/>
          <a:lstStyle/>
          <a:p>
            <a:pPr algn="l"/>
            <a:fld id="{A18A06B1-1C3B-42B7-98EA-0C1833FC9640}" type="datetime4">
              <a:rPr lang="en-US" smtClean="0"/>
              <a:pPr algn="l"/>
              <a:t>August 27, 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650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686540"/>
          </a:xfrm>
        </p:spPr>
        <p:txBody>
          <a:bodyPr>
            <a:normAutofit/>
          </a:bodyPr>
          <a:lstStyle/>
          <a:p>
            <a:r>
              <a:rPr lang="en-US" sz="3200" dirty="0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US" sz="3200" dirty="0">
              <a:effectLst>
                <a:outerShdw blurRad="38100" dist="38100" dir="2700000" algn="tl" rotWithShape="0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296141"/>
            <a:ext cx="10353762" cy="4678531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</a:rPr>
              <a:t>This project is motivated by a personal experience of a </a:t>
            </a:r>
            <a:r>
              <a:rPr lang="en-US" dirty="0" err="1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</a:rPr>
              <a:t>cyberattack</a:t>
            </a:r>
            <a:r>
              <a:rPr lang="en-US" dirty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</a:rPr>
              <a:t> in which sensitive personal information was compromised and multiple online accounts were affected. </a:t>
            </a:r>
            <a:endParaRPr lang="en-US" dirty="0" smtClean="0">
              <a:effectLst>
                <a:outerShdw blurRad="38100" dist="38100" dir="2700000" algn="tl" rotWithShape="0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en-US" dirty="0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</a:rPr>
              <a:t>This </a:t>
            </a:r>
            <a:r>
              <a:rPr lang="en-US" dirty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</a:rPr>
              <a:t>incident highlighted the increasing risks and real-world impact of cyber threats in today’s digital environment. </a:t>
            </a:r>
            <a:endParaRPr lang="en-US" dirty="0" smtClean="0">
              <a:effectLst>
                <a:outerShdw blurRad="38100" dist="38100" dir="2700000" algn="tl" rotWithShape="0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en-US" dirty="0" smtClean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</a:rPr>
              <a:t>As </a:t>
            </a:r>
            <a:r>
              <a:rPr lang="en-US" dirty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</a:rPr>
              <a:t>a result, it inspired the selection of this project topic with the aim of understanding </a:t>
            </a:r>
            <a:r>
              <a:rPr lang="en-US" dirty="0" err="1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</a:rPr>
              <a:t>cyberattack</a:t>
            </a:r>
            <a:r>
              <a:rPr lang="en-US" dirty="0"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</a:rPr>
              <a:t> mechanisms and developing effective machine learning-based tools for detecting and preventing such attacks in the future.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3795" y="5974672"/>
            <a:ext cx="2743200" cy="365125"/>
          </a:xfrm>
        </p:spPr>
        <p:txBody>
          <a:bodyPr/>
          <a:lstStyle/>
          <a:p>
            <a:pPr algn="l"/>
            <a:fld id="{A18A06B1-1C3B-42B7-98EA-0C1833FC9640}" type="datetime4"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pPr algn="l"/>
              <a:t>August 27, 2026</a:t>
            </a:fld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fld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47257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68654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296141"/>
            <a:ext cx="10353762" cy="4678531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Traditional intrusion detection systems (IDS) use signature-based and anomaly-based detection methods to identify and alert on malicious network traffic. It struggles to effectively identify and classify diverse and evolving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cyberattacks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especially when data is imbalanced with some attack types being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significantly uncommon.</a:t>
            </a:r>
          </a:p>
          <a:p>
            <a:pPr algn="just"/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Methods of machine learning are utilised to find a solution to the problem of recognising new attacks or (zero-day attacks), which is a challenge that is confronted by technologically advanced businesses in today's world</a:t>
            </a:r>
            <a:r>
              <a:rPr lang="en-I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3795" y="5974672"/>
            <a:ext cx="2743200" cy="365125"/>
          </a:xfrm>
        </p:spPr>
        <p:txBody>
          <a:bodyPr/>
          <a:lstStyle/>
          <a:p>
            <a:pPr algn="l"/>
            <a:fld id="{A18A06B1-1C3B-42B7-98EA-0C1833FC9640}" type="datetime4">
              <a:rPr lang="en-US" smtClean="0"/>
              <a:pPr algn="l"/>
              <a:t>August 27, 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809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Machine Learning-based Network Intrusion Detection System capable of effectively identifying and classifying malicious network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different types of network attacks present in the CICIDS2017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dataset,including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PortScan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Brute Force, Web Attacks, Botnet,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Infiltration,and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Heartbleed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attacks, and provide appropriate mitigation measures for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7391" y="5924839"/>
            <a:ext cx="2743200" cy="365125"/>
          </a:xfrm>
        </p:spPr>
        <p:txBody>
          <a:bodyPr/>
          <a:lstStyle/>
          <a:p>
            <a:pPr algn="l"/>
            <a:fld id="{DAD2E576-FB8A-46CF-85B3-32D1924A98C0}" type="datetime4">
              <a:rPr lang="en-US" smtClean="0"/>
              <a:pPr algn="l"/>
              <a:t>August 27, 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72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540058"/>
            <a:ext cx="10353761" cy="68654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296141"/>
            <a:ext cx="10353762" cy="4678531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scope of this project is to design and implement a Machine Learning-based Net-work Intrusion Detection System (NIDS) capable of analyzing network traffic data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identifying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malicious activities using the CICIDS2017 dataset.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and classifying various attacks, including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PortScan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BruteForce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Web Attacks, Botnet, Infiltration, and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Heartbleed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supervised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aims to improve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intrusion detection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and reduce false alarms through data preprocessing, class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feature scaling, model training, and evaluation techniques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3794" y="5883274"/>
            <a:ext cx="2743200" cy="365125"/>
          </a:xfrm>
        </p:spPr>
        <p:txBody>
          <a:bodyPr/>
          <a:lstStyle/>
          <a:p>
            <a:pPr algn="l"/>
            <a:fld id="{081595AD-7642-4C7D-AA5D-2994BE1217EE}" type="datetime4">
              <a:rPr lang="en-US" smtClean="0"/>
              <a:pPr algn="l"/>
              <a:t>August 27, 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571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908481"/>
          </a:xfrm>
        </p:spPr>
        <p:txBody>
          <a:bodyPr>
            <a:normAutofit/>
          </a:bodyPr>
          <a:lstStyle/>
          <a:p>
            <a:r>
              <a:rPr lang="en-US" sz="2400" dirty="0"/>
              <a:t>Literature review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3795" y="5883275"/>
            <a:ext cx="2743200" cy="365125"/>
          </a:xfrm>
        </p:spPr>
        <p:txBody>
          <a:bodyPr/>
          <a:lstStyle/>
          <a:p>
            <a:pPr algn="l"/>
            <a:fld id="{69F2A5EF-A0A7-4082-8B74-2E8A924FC6E7}" type="datetime4">
              <a:rPr lang="en-US" smtClean="0"/>
              <a:pPr algn="l"/>
              <a:t>August 27, 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518082"/>
            <a:ext cx="10353762" cy="4273118"/>
          </a:xfrm>
        </p:spPr>
        <p:txBody>
          <a:bodyPr/>
          <a:lstStyle/>
          <a:p>
            <a:pPr algn="just"/>
            <a:r>
              <a:rPr lang="en-US" dirty="0"/>
              <a:t>Summary of review in Tabular </a:t>
            </a:r>
            <a:r>
              <a:rPr lang="en-US" dirty="0" smtClean="0"/>
              <a:t>form</a:t>
            </a:r>
          </a:p>
          <a:p>
            <a:pPr algn="just"/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20145"/>
              </p:ext>
            </p:extLst>
          </p:nvPr>
        </p:nvGraphicFramePr>
        <p:xfrm>
          <a:off x="923637" y="1911928"/>
          <a:ext cx="10728036" cy="4476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6618"/>
                <a:gridCol w="2484582"/>
                <a:gridCol w="1625600"/>
                <a:gridCol w="2304472"/>
                <a:gridCol w="3546764"/>
              </a:tblGrid>
              <a:tr h="453197">
                <a:tc>
                  <a:txBody>
                    <a:bodyPr/>
                    <a:lstStyle/>
                    <a:p>
                      <a:r>
                        <a:rPr lang="en-US" dirty="0" smtClean="0"/>
                        <a:t>ref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Method used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Dataset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contribution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limitation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[2]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RandomForest</a:t>
                      </a:r>
                      <a:r>
                        <a:rPr lang="en-US" dirty="0" smtClean="0"/>
                        <a:t>+ </a:t>
                      </a:r>
                      <a:r>
                        <a:rPr lang="en-US" dirty="0" err="1" smtClean="0"/>
                        <a:t>ApacheSpark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NSL-KDD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Distributed ML based intrusion detection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Limited attack classification, high FN rate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[3]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Text-CNN+Random</a:t>
                      </a:r>
                      <a:r>
                        <a:rPr lang="en-US" dirty="0" smtClean="0"/>
                        <a:t> Forest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NSL-KDD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Hybrid deep learning + ML model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High computational complexity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[4]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Random Forest, Naive Bayes, SGD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NSL-KDD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Comparative ML performance analysis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Limited multi-class analysis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[5]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RF, NB, MLP, Bayes Network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KDD Cup99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Impact of preprocessing techniques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Uses outdated dataset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[6]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RF, SVM, NB,LR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CICIDS2017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Compared ML models with SMOTE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Limited model and dataset scope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149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Literature review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5149271"/>
              </p:ext>
            </p:extLst>
          </p:nvPr>
        </p:nvGraphicFramePr>
        <p:xfrm>
          <a:off x="914400" y="2095500"/>
          <a:ext cx="10353675" cy="466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436"/>
                <a:gridCol w="2618509"/>
                <a:gridCol w="1357746"/>
                <a:gridCol w="2964873"/>
                <a:gridCol w="269211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Method used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dataset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contribution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limitation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[7]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Multiple ML Algorithms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KDDCup99, NSL-KDD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Dataset comparison study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Focus only on datasets, not optimization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[8]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RNN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KDD-99,NSL-KDD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Applied deep learning to IDS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High computational cost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[9]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RF, </a:t>
                      </a:r>
                      <a:r>
                        <a:rPr lang="en-US" dirty="0" err="1" smtClean="0"/>
                        <a:t>XGBoost</a:t>
                      </a:r>
                      <a:r>
                        <a:rPr lang="en-US" dirty="0" smtClean="0"/>
                        <a:t>, KNN,SVM,NB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KDDCup99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Evaluation of modern ML algorithms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Uses traditional datasets only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[10]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Deep Auto en-coder + Random Forest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NSL-KDD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Combined deep feature extraction with Random Forest for NIDS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increased model complexity and computational cost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[11]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Hybrid Machine Learning Methods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NSL-KDD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improved intrusion detection through a hybrid ML approach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Requires careful model configuration and additional computational resources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035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489285"/>
            <a:ext cx="10353761" cy="908481"/>
          </a:xfrm>
        </p:spPr>
        <p:txBody>
          <a:bodyPr>
            <a:norm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Requirement</a:t>
            </a:r>
            <a:r>
              <a:rPr lang="en-US" sz="3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3795" y="5883275"/>
            <a:ext cx="2743200" cy="365125"/>
          </a:xfrm>
        </p:spPr>
        <p:txBody>
          <a:bodyPr/>
          <a:lstStyle/>
          <a:p>
            <a:pPr algn="l"/>
            <a:fld id="{69F2A5EF-A0A7-4082-8B74-2E8A924FC6E7}" type="datetime4">
              <a:rPr lang="en-US" smtClean="0"/>
              <a:pPr algn="l"/>
              <a:t>August 27, 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221" y="1518082"/>
            <a:ext cx="5325979" cy="4610002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Requirement:</a:t>
            </a:r>
          </a:p>
          <a:p>
            <a:pPr lvl="1" algn="just"/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Laptop or desktop computer </a:t>
            </a:r>
            <a:endParaRPr lang="en-US" b="1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 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i3 processor or equivalent </a:t>
            </a:r>
            <a:endParaRPr lang="en-US" b="1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4GBRAM(minimum) </a:t>
            </a:r>
            <a:endParaRPr lang="en-US" b="1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5GBfree 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storage space </a:t>
            </a:r>
            <a:endParaRPr lang="en-US" b="1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adapter (Wi-Fi or Ethernet) </a:t>
            </a:r>
            <a:endParaRPr lang="en-US" b="1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Keyboard 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mouse/touchpad </a:t>
            </a:r>
            <a:endParaRPr lang="en-US" b="1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 </a:t>
            </a:r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connection</a:t>
            </a:r>
          </a:p>
          <a:p>
            <a:pPr marL="0" indent="0" algn="just">
              <a:buNone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209310" y="1567582"/>
            <a:ext cx="6359236" cy="461000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Windows 10/11 or Linux operating system </a:t>
            </a:r>
            <a:endParaRPr lang="en-US" b="1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3.x </a:t>
            </a:r>
            <a:endParaRPr lang="en-US" b="1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Notebook or Visual Studio Code (VS Code) </a:t>
            </a:r>
            <a:endParaRPr lang="en-US" b="1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 library for data preprocessing and analysis </a:t>
            </a:r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NumPylibrary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numerical computations </a:t>
            </a:r>
            <a:endParaRPr lang="en-US" b="1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-learn 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library for machine learning model development </a:t>
            </a:r>
            <a:endParaRPr lang="en-US" b="1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library for data visualization </a:t>
            </a:r>
            <a:endParaRPr lang="en-US" b="1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library for statistical data visualization </a:t>
            </a:r>
            <a:endParaRPr lang="en-US" b="1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CIC-CIDS2017 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training and testing the intrusion detection model </a:t>
            </a:r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en-US" b="1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(optional) for version control and project </a:t>
            </a:r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endParaRPr lang="en-US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064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908481"/>
          </a:xfrm>
        </p:spPr>
        <p:txBody>
          <a:bodyPr>
            <a:normAutofit/>
          </a:bodyPr>
          <a:lstStyle/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system block diagram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3795" y="5883275"/>
            <a:ext cx="2743200" cy="365125"/>
          </a:xfrm>
        </p:spPr>
        <p:txBody>
          <a:bodyPr/>
          <a:lstStyle/>
          <a:p>
            <a:pPr algn="l"/>
            <a:fld id="{69F2A5EF-A0A7-4082-8B74-2E8A924FC6E7}" type="datetime4">
              <a:rPr lang="en-US" smtClean="0"/>
              <a:pPr algn="l"/>
              <a:t>August 27, 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11</a:t>
            </a:fld>
            <a:endParaRPr lang="en-US" dirty="0"/>
          </a:p>
        </p:txBody>
      </p:sp>
      <p:sp>
        <p:nvSpPr>
          <p:cNvPr id="9" name="AutoShape 8">
            <a:extLst>
              <a:ext uri="{FF2B5EF4-FFF2-40B4-BE49-F238E27FC236}">
                <a16:creationId xmlns="" xmlns:a16="http://schemas.microsoft.com/office/drawing/2014/main" id="{52850F42-E484-4DCD-FBA7-FC5B6F9AC7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04582"/>
            <a:ext cx="2176818" cy="2176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B25D632B-0D71-951D-0C87-E42380625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18082"/>
            <a:ext cx="10353762" cy="4273118"/>
          </a:xfrm>
        </p:spPr>
        <p:txBody>
          <a:bodyPr/>
          <a:lstStyle/>
          <a:p>
            <a:pPr algn="just"/>
            <a:r>
              <a:rPr lang="en-US" dirty="0"/>
              <a:t>System </a:t>
            </a:r>
            <a:r>
              <a:rPr lang="en-US" dirty="0" smtClean="0"/>
              <a:t>architecture</a:t>
            </a:r>
            <a:r>
              <a:rPr lang="en-US" dirty="0"/>
              <a:t>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648" y="1964602"/>
            <a:ext cx="3196191" cy="449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789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Dataflow diagram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765964" y="5001491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Fig: DFD level 0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354" y="2416193"/>
            <a:ext cx="7058025" cy="2105025"/>
          </a:xfrm>
        </p:spPr>
      </p:pic>
    </p:spTree>
    <p:extLst>
      <p:ext uri="{BB962C8B-B14F-4D97-AF65-F5344CB8AC3E}">
        <p14:creationId xmlns:p14="http://schemas.microsoft.com/office/powerpoint/2010/main" val="1641791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 diagram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13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156364" y="5957455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 : DFD level-1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641" y="1638704"/>
            <a:ext cx="8077846" cy="4244571"/>
          </a:xfrm>
        </p:spPr>
      </p:pic>
    </p:spTree>
    <p:extLst>
      <p:ext uri="{BB962C8B-B14F-4D97-AF65-F5344CB8AC3E}">
        <p14:creationId xmlns:p14="http://schemas.microsoft.com/office/powerpoint/2010/main" val="1568063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533DD65-A6C5-C601-6994-B7C581959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6A127A-AF3E-79B9-2E4A-4A7308A2E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908481"/>
          </a:xfrm>
        </p:spPr>
        <p:txBody>
          <a:bodyPr>
            <a:normAutofit/>
          </a:bodyPr>
          <a:lstStyle/>
          <a:p>
            <a:r>
              <a:rPr lang="en-US" sz="2400" dirty="0"/>
              <a:t>Methodology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80945C5-0A74-6510-DF4A-B25B0D2B77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3795" y="5883275"/>
            <a:ext cx="2743200" cy="365125"/>
          </a:xfrm>
        </p:spPr>
        <p:txBody>
          <a:bodyPr/>
          <a:lstStyle/>
          <a:p>
            <a:pPr algn="l"/>
            <a:fld id="{69F2A5EF-A0A7-4082-8B74-2E8A924FC6E7}" type="datetime4">
              <a:rPr lang="en-US" smtClean="0"/>
              <a:pPr algn="l"/>
              <a:t>August 27,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DCACA54-1590-A178-454A-D69CB70E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14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530436" y="4959927"/>
            <a:ext cx="324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 : overview of methodology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3922" y="2209046"/>
            <a:ext cx="9442131" cy="23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34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545"/>
            <a:ext cx="10353761" cy="1326321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SMOTE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9711" y="1267485"/>
            <a:ext cx="10977846" cy="4870765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CICIDS2017 dataset contains significant class imbalance, where some attack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 substantially fewer samples than the majority classes. This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 can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 machine learning models to favor the majority class and perform poorly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minority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SMOTETomek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applied to the training data. The SMOTE-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Tomek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 consists of two main steps: SMOTE for generating synthetic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minority-class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samples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Tomek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Links for removing overlapping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samples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equation: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Euclidean distance: 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Tomek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Links condition: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768" y="3162482"/>
            <a:ext cx="3000375" cy="6000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240" y="3702867"/>
            <a:ext cx="2409825" cy="8667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1559" y="4757123"/>
            <a:ext cx="225742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280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MODELs SELECTED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Naives Bayes: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Naive Bayes is based on Bayes’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</a:t>
                </a:r>
              </a:p>
              <a:p>
                <a:pPr lvl="2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P(C|X) =P(X|C)P(C)/P(X</a:t>
                </a:r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lvl="2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 P(CX) = Posterior probability of class C, P(XC) = Likelihood, P(C) = Prior probability, P(X) = Evidence</a:t>
                </a:r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Multiple Features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1,</m:t>
                    </m:r>
                    <m:r>
                      <m:rPr>
                        <m:nor/>
                      </m:rPr>
                      <a: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2,...,</m:t>
                    </m:r>
                    <m:r>
                      <m:rPr>
                        <m:nor/>
                      </m:rPr>
                      <a: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Xn</m:t>
                    </m:r>
                    <m:r>
                      <m:rPr>
                        <m:nor/>
                      </m:rPr>
                      <a: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 ∝ </m:t>
                    </m:r>
                    <m:r>
                      <m:rPr>
                        <m:nor/>
                      </m:rPr>
                      <a: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  </m:t>
                    </m:r>
                    <m:nary>
                      <m:naryPr>
                        <m:chr m:val="∏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b="0" i="1" smtClean="0">
                            <a:latin typeface="Cambria Math"/>
                          </a:rPr>
                          <m:t>𝑖</m:t>
                        </m:r>
                        <m:r>
                          <a:rPr lang="en-US" sz="1800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1800" b="0" i="1" smtClean="0">
                            <a:latin typeface="Cambria Math"/>
                          </a:rPr>
                          <m:t>𝑛</m:t>
                        </m:r>
                      </m:sup>
                      <m:e>
                        <m:r>
                          <m:rPr>
                            <m:nor/>
                          </m:rPr>
                          <a:rPr lang="en-US" sz="1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1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Xi</m:t>
                        </m:r>
                        <m:r>
                          <m:rPr>
                            <m:nor/>
                          </m:rPr>
                          <a:rPr lang="en-US" sz="1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sz="1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sz="1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buFont typeface="Wingdings" panose="05000000000000000000" pitchFamily="2" charset="2"/>
                  <a:buChar char="q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71" t="-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138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is an ensemble learning method that constructs multiple decision trees during training. 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independently predicts the class of a network traffic instance, and the final prediction is made using majority voting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Forest combines predictions from multiple decision trees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Y′ =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majorityvote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(T1(X),T2(X),...,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Ti(X)=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from the i-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decision tree, n=number of trees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989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Classification: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effectLst/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</a:rPr>
                          <m:t>I</m:t>
                        </m:r>
                        <m:d>
                          <m:d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effectLst/>
                                <a:latin typeface="Cambria Math" panose="02040503050406030204" pitchFamily="18" charset="0"/>
                              </a:rPr>
                              <m:t>Ti</m:t>
                            </m:r>
                            <m:d>
                              <m:d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effectLst/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en-US">
                                <a:effectLst/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effectLst/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d>
                      </m:e>
                    </m:nary>
                  </m:oMath>
                </a14:m>
                <a:endParaRPr lang="en-US" dirty="0" smtClean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Entropy: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effectLst/>
                        <a:latin typeface="Cambria Math" panose="02040503050406030204" pitchFamily="18" charset="0"/>
                      </a:rPr>
                      <m:t>Entropy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US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 Gain:</a:t>
                </a:r>
                <a:endParaRPr lang="en-US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effectLst/>
                        <a:latin typeface="Cambria Math" panose="02040503050406030204" pitchFamily="18" charset="0"/>
                      </a:rPr>
                      <m:t>IG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lang="en-US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effectLst/>
                        <a:latin typeface="Cambria Math" panose="02040503050406030204" pitchFamily="18" charset="0"/>
                      </a:rPr>
                      <m:t>Entropy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en-US">
                            <a:effectLst/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</a:rPr>
                          <m:t>Values</m:t>
                        </m:r>
                        <m:r>
                          <a:rPr lang="en-US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effectLst/>
                                    <a:latin typeface="Cambria Math" panose="02040503050406030204" pitchFamily="18" charset="0"/>
                                  </a:rPr>
                                  <m:t>Sv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effectLst/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</m:d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US">
                        <a:effectLst/>
                        <a:latin typeface="Cambria Math" panose="02040503050406030204" pitchFamily="18" charset="0"/>
                      </a:rPr>
                      <m:t>Entropy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</a:rPr>
                          <m:t>Sv</m:t>
                        </m:r>
                      </m:e>
                    </m:d>
                  </m:oMath>
                </a14:m>
                <a:endParaRPr lang="en-US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71" t="-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32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XGBoost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Extreme </a:t>
                </a:r>
                <a:r>
                  <a:rPr lang="en-US" sz="1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Gradien</a:t>
                </a:r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tBoosting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an advanced ensemble technique that builds decision trees sequentially.</a:t>
                </a:r>
              </a:p>
              <a:p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new tree learns from the errors of previous trees, improving over all prediction performance</a:t>
                </a:r>
              </a:p>
              <a:p>
                <a:pPr marL="228600" lvl="1">
                  <a:spcBef>
                    <a:spcPts val="1000"/>
                  </a:spcBef>
                </a:pPr>
                <a:r>
                  <a:rPr lang="en-US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Final prediction:</a:t>
                </a:r>
              </a:p>
              <a:p>
                <a:pPr marL="685800" lvl="2">
                  <a:spcBef>
                    <a:spcPts val="10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effectLst/>
                            <a:latin typeface="Cambria Math"/>
                          </a:rPr>
                          <m:t>𝑦</m:t>
                        </m:r>
                      </m:e>
                    </m:acc>
                    <m:r>
                      <a:rPr lang="en-US" sz="1800">
                        <a:effectLst/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b="0" i="1" smtClean="0">
                            <a:effectLst/>
                            <a:latin typeface="Cambria Math"/>
                          </a:rPr>
                          <m:t>𝑘</m:t>
                        </m:r>
                        <m:r>
                          <a:rPr lang="en-US" sz="1800" b="0" i="1" smtClean="0">
                            <a:effectLst/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1800" b="0" i="1" smtClean="0">
                            <a:effectLst/>
                            <a:latin typeface="Cambria Math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effectLst/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800" b="0" i="1" smtClean="0">
                                <a:effectLst/>
                                <a:latin typeface="Cambria Math"/>
                              </a:rPr>
                              <m:t>𝑥</m:t>
                            </m:r>
                          </m:sub>
                        </m:sSub>
                        <m:r>
                          <a:rPr lang="en-US" sz="1800" b="0" i="1" smtClean="0">
                            <a:effectLst/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effectLst/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effectLst/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1800" b="0" i="1" smtClean="0">
                            <a:effectLst/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sz="1800" dirty="0" smtClean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28600" lvl="1">
                  <a:spcBef>
                    <a:spcPts val="1000"/>
                  </a:spcBef>
                </a:pPr>
                <a:r>
                  <a:rPr lang="en-US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Objective function: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effectLst/>
                        <a:latin typeface="Cambria Math" panose="02040503050406030204" pitchFamily="18" charset="0"/>
                      </a:rPr>
                      <m:t>Obj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</a:rPr>
                          <m:t>yi</m:t>
                        </m:r>
                        <m:r>
                          <a:rPr lang="en-US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>
                        <a:effectLst/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a:rPr lang="en-US">
                            <a:effectLst/>
                            <a:latin typeface="Cambria Math" panose="02040503050406030204" pitchFamily="18" charset="0"/>
                          </a:rPr>
                          <m:t> Ω(</m:t>
                        </m:r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m:rPr>
                        <m:sty m:val="p"/>
                      </m:rPr>
                      <a:rPr lang="en-US">
                        <a:effectLst/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endParaRPr lang="en-US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28600" lvl="1">
                  <a:spcBef>
                    <a:spcPts val="1000"/>
                  </a:spcBef>
                </a:pPr>
                <a:r>
                  <a:rPr lang="en-US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Regularization Term :</a:t>
                </a:r>
                <a14:m>
                  <m:oMath xmlns:m="http://schemas.openxmlformats.org/officeDocument/2006/math">
                    <m:r>
                      <a:rPr lang="en-US">
                        <a:effectLst/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</a:rPr>
                          <m:t>f</m:t>
                        </m:r>
                      </m:e>
                    </m:d>
                    <m:r>
                      <a:rPr lang="en-US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effectLst/>
                        <a:latin typeface="Cambria Math" panose="02040503050406030204" pitchFamily="18" charset="0"/>
                      </a:rPr>
                      <m:t>γT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>
                        <a:effectLst/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limLoc m:val="subSup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US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endParaRPr lang="en-US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685800" lvl="2">
                  <a:spcBef>
                    <a:spcPts val="1000"/>
                  </a:spcBef>
                </a:pPr>
                <a:endParaRPr 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71" t="-330" b="-3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61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292730"/>
            <a:ext cx="10353761" cy="685046"/>
          </a:xfrm>
        </p:spPr>
        <p:txBody>
          <a:bodyPr/>
          <a:lstStyle/>
          <a:p>
            <a:r>
              <a:rPr lang="en-US" dirty="0" smtClean="0"/>
              <a:t>LSTM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8352" y="1077362"/>
            <a:ext cx="11353046" cy="5078994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(Long Short-Term Memory) is a type of Recurrent Neural Network (RNN)specifically designed to learn long-term temporal dependencies in sequential data.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of Network Intrusion Detection Systems (NIDS), network traffic flows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exhibit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patterns that LSTM can effectively learn and classify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LSTM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addresses the vanishing gradient problem in standard RNNs by introducing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cell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and three gating mechanisms: the forget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input gate, and output gate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Forget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Gate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ft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σ(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Wf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[ht−1,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] + b f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Gate: it =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 (Wi · [ht−1,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] + bi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Cell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:˜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 =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(WC · [ht−1,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] +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 State Update: Ct =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⊙Ct−1 + it ⊙ ˜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Gate: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σ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 [ht−1,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] +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State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⊙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(Ct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Classification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367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757473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LSTM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2253" y="1264128"/>
            <a:ext cx="6618083" cy="4722092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909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parameter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Accuracy: It calculates the ratio of correctly predicted instances (both normal and attack) to the total number of instances.</a:t>
                </a:r>
              </a:p>
              <a:p>
                <a:pPr lvl="1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Accuracy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TP</m:t>
                        </m:r>
                        <m:r>
                          <m:rPr>
                            <m:nor/>
                          </m:rPr>
                          <a:rPr lang="en-US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TP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TN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FP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FN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Precision : In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Network Intrusion Detection System, high precision means fewer false alarms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1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Precision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/>
                          </a:rPr>
                          <m:t>𝑇𝑃</m:t>
                        </m:r>
                      </m:num>
                      <m:den>
                        <m:r>
                          <a:rPr lang="en-US" sz="2400" b="0" i="1" smtClean="0">
                            <a:latin typeface="Cambria Math"/>
                          </a:rPr>
                          <m:t>𝑇𝑃</m:t>
                        </m:r>
                        <m:r>
                          <a:rPr lang="en-US" sz="2400" b="0" i="1" smtClean="0">
                            <a:latin typeface="Cambria Math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𝐹𝑃</m:t>
                        </m:r>
                      </m:den>
                    </m:f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Recall : Recall measures how many actual attack instances are correctly detected by the system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1"/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Recall=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/>
                          </a:rPr>
                          <m:t>𝑇𝑃</m:t>
                        </m:r>
                      </m:num>
                      <m:den>
                        <m:r>
                          <a:rPr lang="en-US" sz="2400" b="0" i="1" smtClean="0">
                            <a:latin typeface="Cambria Math"/>
                          </a:rPr>
                          <m:t>𝑇𝑃</m:t>
                        </m:r>
                        <m:r>
                          <a:rPr lang="en-US" sz="2400" b="0" i="1" smtClean="0">
                            <a:latin typeface="Cambria Math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𝐹𝑁</m:t>
                        </m:r>
                      </m:den>
                    </m:f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F1-Score: It provides a balanced measure between detecting attacks correctly and minimizing false alarms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1"/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F1-Score=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𝑃𝑟𝑒𝑐𝑖𝑠𝑜𝑛</m:t>
                        </m:r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𝑅𝑒𝑐𝑎𝑙𝑙</m:t>
                        </m:r>
                      </m:num>
                      <m:den>
                        <m:r>
                          <a:rPr lang="en-US" sz="2400" b="0" i="1" smtClean="0">
                            <a:latin typeface="Cambria Math"/>
                          </a:rPr>
                          <m:t>𝑃𝑟𝑒𝑐𝑖𝑠𝑖𝑜𝑛</m:t>
                        </m:r>
                        <m:r>
                          <a:rPr lang="en-US" sz="2400" b="0" i="1" smtClean="0">
                            <a:latin typeface="Cambria Math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𝑅𝑒𝑐𝑎𝑙𝑙</m:t>
                        </m:r>
                      </m:den>
                    </m:f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endParaRPr lang="en-US" dirty="0" smtClean="0"/>
              </a:p>
              <a:p>
                <a:pPr lvl="1"/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12" t="-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833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parameter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Confusion Matrix : It summarizes the prediction results by comparing actual labels with predicted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labels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It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helps in understanding how well the model distinguishes between normal traffic and attack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traffic.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𝑃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𝐹𝑁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𝐹𝑃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𝑇𝑁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48" t="-330" r="-1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800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241294"/>
            <a:ext cx="10353761" cy="686540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3794" y="5883274"/>
            <a:ext cx="2743200" cy="365125"/>
          </a:xfrm>
        </p:spPr>
        <p:txBody>
          <a:bodyPr/>
          <a:lstStyle/>
          <a:p>
            <a:pPr algn="l"/>
            <a:fld id="{081595AD-7642-4C7D-AA5D-2994BE1217EE}" type="datetime4">
              <a:rPr lang="en-US" smtClean="0"/>
              <a:pPr algn="l"/>
              <a:t>August 27, 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24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9CC8192-C659-35F4-D28F-3105E862E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068" y="927833"/>
            <a:ext cx="11706131" cy="5183255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Machine Learning-based Network Intrusion Detection System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effectively detected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intrusions using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CIC-CIDS2017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43" y="1819046"/>
            <a:ext cx="3085424" cy="35119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6460" y="5512813"/>
            <a:ext cx="2761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Naives Bayes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767" y="1838673"/>
            <a:ext cx="2933322" cy="347268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088" y="1858301"/>
            <a:ext cx="2996699" cy="34726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47602" y="5512813"/>
            <a:ext cx="209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37014" y="5477347"/>
            <a:ext cx="209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51018" y="5993394"/>
            <a:ext cx="5097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Model Classification Report before </a:t>
            </a:r>
            <a:r>
              <a:rPr lang="en-US" dirty="0" err="1" smtClean="0"/>
              <a:t>SmoteTomek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063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256516"/>
            <a:ext cx="10353761" cy="639778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68" y="1295153"/>
            <a:ext cx="3029085" cy="3666146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25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5267" y="1295153"/>
            <a:ext cx="3241140" cy="366614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4321" y="1295153"/>
            <a:ext cx="3343255" cy="36661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4154" y="5169529"/>
            <a:ext cx="1892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Naives Bayes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83937" y="5169529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96681" y="5169529"/>
            <a:ext cx="1910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14804" y="5538861"/>
            <a:ext cx="530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Classification after SMOTETOMEK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0759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84087"/>
            <a:ext cx="10353761" cy="857061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236037"/>
            <a:ext cx="3875250" cy="4091687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26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166356" y="5522613"/>
            <a:ext cx="3061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LSTM Classification Report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310" y="783961"/>
            <a:ext cx="4781626" cy="271403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449" y="3426426"/>
            <a:ext cx="4964562" cy="310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8044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247461"/>
            <a:ext cx="10353761" cy="766527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27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5236" y="1225189"/>
            <a:ext cx="6669433" cy="185694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235" y="3666305"/>
            <a:ext cx="6669433" cy="18192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09450" y="3082131"/>
            <a:ext cx="315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Before Smote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309450" y="5475707"/>
            <a:ext cx="2525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After Smote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9375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238409"/>
            <a:ext cx="10353761" cy="54924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BAR GRAPHS before smote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3244"/>
            <a:ext cx="4316915" cy="2698071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87669" y="6376734"/>
            <a:ext cx="2743200" cy="365125"/>
          </a:xfrm>
        </p:spPr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95492" y="6376734"/>
            <a:ext cx="753545" cy="365125"/>
          </a:xfrm>
        </p:spPr>
        <p:txBody>
          <a:bodyPr/>
          <a:lstStyle/>
          <a:p>
            <a:fld id="{BEC1763F-81AB-444C-A628-BCD1D82D678C}" type="slidenum">
              <a:rPr lang="en-US" smtClean="0"/>
              <a:t>28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915" y="1379031"/>
            <a:ext cx="4041465" cy="25259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9739" y="1283244"/>
            <a:ext cx="3722261" cy="24016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088" y="3959072"/>
            <a:ext cx="4152824" cy="291293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380" y="3603422"/>
            <a:ext cx="3628450" cy="285475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81315"/>
            <a:ext cx="4105383" cy="287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020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11661"/>
            <a:ext cx="10353761" cy="712206"/>
          </a:xfrm>
        </p:spPr>
        <p:txBody>
          <a:bodyPr/>
          <a:lstStyle/>
          <a:p>
            <a:r>
              <a:rPr lang="en-US" dirty="0" smtClean="0"/>
              <a:t>Bar graphs after smote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5" y="1368966"/>
            <a:ext cx="4246224" cy="2558447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96843" y="6390269"/>
            <a:ext cx="2743200" cy="365125"/>
          </a:xfrm>
        </p:spPr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14011" y="6390268"/>
            <a:ext cx="753545" cy="365125"/>
          </a:xfrm>
        </p:spPr>
        <p:txBody>
          <a:bodyPr/>
          <a:lstStyle/>
          <a:p>
            <a:fld id="{BEC1763F-81AB-444C-A628-BCD1D82D678C}" type="slidenum">
              <a:rPr lang="en-US" smtClean="0"/>
              <a:t>29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581" y="1309872"/>
            <a:ext cx="4119177" cy="268397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775" y="1202253"/>
            <a:ext cx="3763225" cy="265388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4" y="4152150"/>
            <a:ext cx="4246225" cy="260324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172" y="4152150"/>
            <a:ext cx="3847573" cy="250403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7706" y="3856142"/>
            <a:ext cx="3847677" cy="250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4582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229356"/>
            <a:ext cx="10353761" cy="675992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94" y="1285592"/>
            <a:ext cx="4732971" cy="3986203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30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023" y="1285593"/>
            <a:ext cx="4557425" cy="39625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30448" y="5278170"/>
            <a:ext cx="2335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Naives Bayes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68697" y="5278170"/>
            <a:ext cx="2199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293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265569"/>
            <a:ext cx="10353761" cy="703152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74" y="1393322"/>
            <a:ext cx="4646550" cy="4065352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31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073" y="1393322"/>
            <a:ext cx="4796413" cy="41441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47731" y="5531667"/>
            <a:ext cx="225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80222" y="5658416"/>
            <a:ext cx="1765426" cy="380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LSTM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7029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265569"/>
            <a:ext cx="10353761" cy="820847"/>
          </a:xfrm>
        </p:spPr>
        <p:txBody>
          <a:bodyPr/>
          <a:lstStyle/>
          <a:p>
            <a:r>
              <a:rPr lang="en-US" dirty="0" smtClean="0"/>
              <a:t>Minority attack DETECTION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168" y="1742054"/>
            <a:ext cx="8495014" cy="3485583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3958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238408"/>
            <a:ext cx="10353761" cy="820848"/>
          </a:xfrm>
        </p:spPr>
        <p:txBody>
          <a:bodyPr/>
          <a:lstStyle/>
          <a:p>
            <a:r>
              <a:rPr lang="en-US" dirty="0" smtClean="0"/>
              <a:t>Minority attack detection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34" y="1374346"/>
            <a:ext cx="5163020" cy="4247856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33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176" y="1374346"/>
            <a:ext cx="5326380" cy="424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830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84087"/>
            <a:ext cx="10353761" cy="630725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UI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05" y="1198349"/>
            <a:ext cx="5382962" cy="2595052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34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003" y="1217323"/>
            <a:ext cx="5100951" cy="257607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732" y="3902043"/>
            <a:ext cx="6788357" cy="284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4308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38820"/>
            <a:ext cx="10353761" cy="621671"/>
          </a:xfrm>
        </p:spPr>
        <p:txBody>
          <a:bodyPr/>
          <a:lstStyle/>
          <a:p>
            <a:r>
              <a:rPr lang="en-US" dirty="0" smtClean="0"/>
              <a:t>limitation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869133"/>
            <a:ext cx="10353762" cy="501414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Real-Time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of Unknown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Attacks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Requirements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896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256516"/>
            <a:ext cx="10353761" cy="675992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041149"/>
            <a:ext cx="10353762" cy="4750051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Minority Attack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Deep Learning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Attack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Performance Monitoring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666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686540"/>
          </a:xfrm>
        </p:spPr>
        <p:txBody>
          <a:bodyPr>
            <a:normAutofit/>
          </a:bodyPr>
          <a:lstStyle/>
          <a:p>
            <a:r>
              <a:rPr lang="en-US" sz="2400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296141"/>
            <a:ext cx="10353762" cy="467853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Almutairi,Y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S,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Bader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A.,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Amr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M.(2022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Network Intrusion Detection Using Machine Learning </a:t>
            </a:r>
            <a:r>
              <a:rPr lang="en-US" sz="1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Advances in Science and Technology Research Journal 2022 , 16(3),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193–206.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Ravipati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Abualkibash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(2019) evaluated several ML algorithms on KDD- 99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NSL-KDD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datasets. Random Forest achieved better accuracy, but the study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lackedreal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-time implementation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considerations.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3] Min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 (2018) developed a hybrid IDS using Text-CNN for feature extraction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Random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Forest for classification. The model improved detection performance but re-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quired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computational resources, making it less suitable for lightweight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systems.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Maniriho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Ahmad (2018) compared multiple machine learning models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 Random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Forest and Naive Bayes for intrusion detection. Results showed that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ensemblemethods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generally perform better, but attack-type classification was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limited.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3794" y="5883274"/>
            <a:ext cx="2743200" cy="365125"/>
          </a:xfrm>
        </p:spPr>
        <p:txBody>
          <a:bodyPr/>
          <a:lstStyle/>
          <a:p>
            <a:pPr algn="l"/>
            <a:fld id="{414ACBDB-F608-428B-AA1E-0EBFF32AA18D}" type="datetime4">
              <a:rPr lang="en-US" smtClean="0"/>
              <a:pPr algn="l"/>
              <a:t>August 27, 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024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93553"/>
            <a:ext cx="10353761" cy="1056238"/>
          </a:xfrm>
        </p:spPr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4" y="1149791"/>
            <a:ext cx="10353762" cy="53234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Obeidat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 (2018) emphasized data preprocessing techniques such as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and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to improve IDS performance. However, the study used the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older KDD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Cup 99 dataset, which reduces real-world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applicability.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Al-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Yaseen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 (2023) compared several machine learning algorithms for network in-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trusion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using the CICIDS2017 dataset. The study evaluated models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 Random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Forest, Support Vector Machine, Naive Bayes, and Logistic Regression,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andapplied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SMOTE to address class imbalance. The results showed that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ensemble-based methods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strong detection performance, demonstrating the importance of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balancing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model selection in intrusion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7]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Sapre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 (2019) compared KDDCup99 and NSL-KDD datasets for IDS evaluation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They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concluded that NSL-KDD is more balanced and suitable for machine learning-based intrusion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Yin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 (2017) proposed a deep learning approach for intrusion detection using Recur-rent Neural Networks (RNN). The model was evaluated on network intrusion datasets5and demonstrated that deep learning could effectively learn patterns from network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traf-fic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attack classification. However, the computational requirements of deep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models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make them less suitable for resource-constrained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819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784634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394235"/>
            <a:ext cx="10353762" cy="49431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9]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Tripathy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Behera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(2023) evaluated multiple ML models including Random Forest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Naive Bayes. Ensemble methods showed superior performance, but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thestudy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traditional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10] Shone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 (2018) proposed a deep learning-based network intrusion detection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that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non-symmetric deep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 encoders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Random Forest classifier.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approach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improved detection performance compared with several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machine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methods. However, the additional complexity of deep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learning-based feature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 can increase computational requirements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¸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avus¸o˘glu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(2019) developed a hybrid intrusion detection approach using multiple ma-chine learning methods and evaluated its performance for detecting network attacks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demonstrated that combining different learning techniques can improve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intrusion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performance. However, hybrid approaches may require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computational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 and careful model configuration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DAD2E576-FB8A-46CF-85B3-32D1924A98C0}" type="datetime4">
              <a:rPr lang="en-US" smtClean="0"/>
              <a:pPr algn="l"/>
              <a:t>August 27, 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075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722268"/>
            <a:ext cx="10353761" cy="3391270"/>
          </a:xfrm>
        </p:spPr>
        <p:txBody>
          <a:bodyPr>
            <a:normAutofit/>
          </a:bodyPr>
          <a:lstStyle/>
          <a:p>
            <a:r>
              <a:rPr lang="en-US" sz="3200" dirty="0"/>
              <a:t>Thank you</a:t>
            </a:r>
            <a:endParaRPr lang="en-US" sz="2400" b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13795" y="5883275"/>
            <a:ext cx="2743200" cy="365125"/>
          </a:xfrm>
        </p:spPr>
        <p:txBody>
          <a:bodyPr/>
          <a:lstStyle/>
          <a:p>
            <a:pPr algn="l"/>
            <a:fld id="{BBB50FC3-5A79-49DC-8384-706A84E1D90E}" type="datetime4">
              <a:rPr lang="en-US" smtClean="0"/>
              <a:pPr algn="l"/>
              <a:t>August 27, 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172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APPENDIX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2E576-FB8A-46CF-85B3-32D1924A98C0}" type="datetime4">
              <a:rPr lang="en-US" smtClean="0"/>
              <a:t>August 27,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1763F-81AB-444C-A628-BCD1D82D678C}" type="slidenum">
              <a:rPr lang="en-US" smtClean="0"/>
              <a:t>41</a:t>
            </a:fld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2463" y="1526288"/>
            <a:ext cx="8392563" cy="499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264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lainTheme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inTheme" id="{34E35895-1317-4443-8BAD-C8F9AA371A66}" vid="{1A736138-595D-48DB-8954-86F4D86472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PlainTheme</Template>
  <TotalTime>5369</TotalTime>
  <Words>2003</Words>
  <Application>Microsoft Office PowerPoint</Application>
  <PresentationFormat>Widescreen</PresentationFormat>
  <Paragraphs>329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Cambria Math</vt:lpstr>
      <vt:lpstr>Times New Roman</vt:lpstr>
      <vt:lpstr>Wingdings</vt:lpstr>
      <vt:lpstr>PlainTheme</vt:lpstr>
      <vt:lpstr>Tribhuvan university institute of engineering Lalitpur engineering college</vt:lpstr>
      <vt:lpstr>outlines</vt:lpstr>
      <vt:lpstr>introduction</vt:lpstr>
      <vt:lpstr>background</vt:lpstr>
      <vt:lpstr>Problem statement </vt:lpstr>
      <vt:lpstr>objectives</vt:lpstr>
      <vt:lpstr>Significance</vt:lpstr>
      <vt:lpstr>Literature review</vt:lpstr>
      <vt:lpstr>Literature review</vt:lpstr>
      <vt:lpstr> Requirement Analysis</vt:lpstr>
      <vt:lpstr> system block diagram</vt:lpstr>
      <vt:lpstr>Dataflow diagram</vt:lpstr>
      <vt:lpstr>Data flow diagram</vt:lpstr>
      <vt:lpstr>Methodology </vt:lpstr>
      <vt:lpstr>SMOTE</vt:lpstr>
      <vt:lpstr>MODELs SELECTED</vt:lpstr>
      <vt:lpstr>Random Forest</vt:lpstr>
      <vt:lpstr>Random forest</vt:lpstr>
      <vt:lpstr>XGBoost</vt:lpstr>
      <vt:lpstr>LSTM</vt:lpstr>
      <vt:lpstr>LSTM</vt:lpstr>
      <vt:lpstr>Performance parameter</vt:lpstr>
      <vt:lpstr>Performance parameter</vt:lpstr>
      <vt:lpstr>RESULT AND DISCUSSION</vt:lpstr>
      <vt:lpstr>RESULT AND DISCUSSION</vt:lpstr>
      <vt:lpstr>RESULT AND DISCUSSION</vt:lpstr>
      <vt:lpstr>MODEL COMPARISION</vt:lpstr>
      <vt:lpstr>BAR GRAPHS before smote</vt:lpstr>
      <vt:lpstr>Bar graphs after smote</vt:lpstr>
      <vt:lpstr>CONFUSION MATRIX</vt:lpstr>
      <vt:lpstr>CONFUSION MATRIX</vt:lpstr>
      <vt:lpstr>Minority attack DETECTION</vt:lpstr>
      <vt:lpstr>Minority attack detection</vt:lpstr>
      <vt:lpstr>SYSTEM UI</vt:lpstr>
      <vt:lpstr>limitation</vt:lpstr>
      <vt:lpstr>FUTURE ENHANCEMENT</vt:lpstr>
      <vt:lpstr>References</vt:lpstr>
      <vt:lpstr>References</vt:lpstr>
      <vt:lpstr>REFERENCEs</vt:lpstr>
      <vt:lpstr>Thank you</vt:lpstr>
      <vt:lpstr>APPENDIX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412</cp:revision>
  <dcterms:created xsi:type="dcterms:W3CDTF">2023-01-05T15:59:57Z</dcterms:created>
  <dcterms:modified xsi:type="dcterms:W3CDTF">2026-08-27T01:01:39Z</dcterms:modified>
</cp:coreProperties>
</file>